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sldIdLst>
    <p:sldId id="256" r:id="rId2"/>
    <p:sldId id="257" r:id="rId3"/>
    <p:sldId id="260" r:id="rId4"/>
    <p:sldId id="259" r:id="rId5"/>
    <p:sldId id="262" r:id="rId6"/>
    <p:sldId id="261" r:id="rId7"/>
    <p:sldId id="264" r:id="rId8"/>
    <p:sldId id="265" r:id="rId9"/>
    <p:sldId id="266" r:id="rId10"/>
    <p:sldId id="267" r:id="rId11"/>
    <p:sldId id="269" r:id="rId12"/>
    <p:sldId id="268" r:id="rId13"/>
    <p:sldId id="270" r:id="rId14"/>
    <p:sldId id="271" r:id="rId15"/>
    <p:sldId id="272" r:id="rId16"/>
    <p:sldId id="273" r:id="rId17"/>
    <p:sldId id="274" r:id="rId18"/>
    <p:sldId id="27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9" y="3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DC29A-D9B1-4D92-ADB1-FD441A2F859A}" type="datetimeFigureOut">
              <a:rPr lang="pt-PT" smtClean="0"/>
              <a:t>07/01/2026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9B372-4114-4E3C-934C-56616AB3FBDB}" type="slidenum">
              <a:rPr lang="pt-PT" smtClean="0"/>
              <a:t>‹nº›</a:t>
            </a:fld>
            <a:endParaRPr lang="pt-PT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1945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DC29A-D9B1-4D92-ADB1-FD441A2F859A}" type="datetimeFigureOut">
              <a:rPr lang="pt-PT" smtClean="0"/>
              <a:t>07/01/2026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9B372-4114-4E3C-934C-56616AB3FBD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08415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c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DC29A-D9B1-4D92-ADB1-FD441A2F859A}" type="datetimeFigureOut">
              <a:rPr lang="pt-PT" smtClean="0"/>
              <a:t>07/01/2026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9B372-4114-4E3C-934C-56616AB3FBDB}" type="slidenum">
              <a:rPr lang="pt-PT" smtClean="0"/>
              <a:t>‹nº›</a:t>
            </a:fld>
            <a:endParaRPr lang="pt-PT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5110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DC29A-D9B1-4D92-ADB1-FD441A2F859A}" type="datetimeFigureOut">
              <a:rPr lang="pt-PT" smtClean="0"/>
              <a:t>07/01/2026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9B372-4114-4E3C-934C-56616AB3FBD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30603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DC29A-D9B1-4D92-ADB1-FD441A2F859A}" type="datetimeFigureOut">
              <a:rPr lang="pt-PT" smtClean="0"/>
              <a:t>07/01/2026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9B372-4114-4E3C-934C-56616AB3FBD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55956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DC29A-D9B1-4D92-ADB1-FD441A2F859A}" type="datetimeFigureOut">
              <a:rPr lang="pt-PT" smtClean="0"/>
              <a:t>07/01/2026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9B372-4114-4E3C-934C-56616AB3FBD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82981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DC29A-D9B1-4D92-ADB1-FD441A2F859A}" type="datetimeFigureOut">
              <a:rPr lang="pt-PT" smtClean="0"/>
              <a:t>07/01/2026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9B372-4114-4E3C-934C-56616AB3FBD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03163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3EDC29A-D9B1-4D92-ADB1-FD441A2F859A}" type="datetimeFigureOut">
              <a:rPr lang="pt-PT" smtClean="0"/>
              <a:t>07/01/2026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E59B372-4114-4E3C-934C-56616AB3FBD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4857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DC29A-D9B1-4D92-ADB1-FD441A2F859A}" type="datetimeFigureOut">
              <a:rPr lang="pt-PT" smtClean="0"/>
              <a:t>07/01/2026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9B372-4114-4E3C-934C-56616AB3FBD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30511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DC29A-D9B1-4D92-ADB1-FD441A2F859A}" type="datetimeFigureOut">
              <a:rPr lang="pt-PT" smtClean="0"/>
              <a:t>07/01/2026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9B372-4114-4E3C-934C-56616AB3FBD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60392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DC29A-D9B1-4D92-ADB1-FD441A2F859A}" type="datetimeFigureOut">
              <a:rPr lang="pt-PT" smtClean="0"/>
              <a:t>07/01/2026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9B372-4114-4E3C-934C-56616AB3FBD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23697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3EDC29A-D9B1-4D92-ADB1-FD441A2F859A}" type="datetimeFigureOut">
              <a:rPr lang="pt-PT" smtClean="0"/>
              <a:t>07/01/2026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E59B372-4114-4E3C-934C-56616AB3FBDB}" type="slidenum">
              <a:rPr lang="pt-PT" smtClean="0"/>
              <a:t>‹nº›</a:t>
            </a:fld>
            <a:endParaRPr lang="pt-PT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2143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146667-54B4-D050-9272-7C56D52C8E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000" dirty="0"/>
              <a:t>Control and Trajectory Design for</a:t>
            </a:r>
            <a:br>
              <a:rPr lang="en-US" sz="7000" dirty="0"/>
            </a:br>
            <a:r>
              <a:rPr lang="pt-PT" sz="7000" dirty="0" err="1"/>
              <a:t>Bone</a:t>
            </a:r>
            <a:r>
              <a:rPr lang="pt-PT" sz="7000" dirty="0"/>
              <a:t> </a:t>
            </a:r>
            <a:r>
              <a:rPr lang="pt-PT" sz="7000" dirty="0" err="1"/>
              <a:t>Surgeries</a:t>
            </a:r>
            <a:endParaRPr lang="pt-PT" sz="70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0D926DF-AF0B-509F-5A56-D3C902E945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0212" y="4500011"/>
            <a:ext cx="8791575" cy="1533489"/>
          </a:xfrm>
        </p:spPr>
        <p:txBody>
          <a:bodyPr>
            <a:normAutofit/>
          </a:bodyPr>
          <a:lstStyle/>
          <a:p>
            <a:pPr algn="ctr"/>
            <a:r>
              <a:rPr lang="pt-PT" dirty="0"/>
              <a:t>Robótica Médica</a:t>
            </a:r>
          </a:p>
          <a:p>
            <a:pPr algn="ctr"/>
            <a:endParaRPr lang="pt-PT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3600BBE-34CA-DB7C-206E-18B0BDBD99EA}"/>
              </a:ext>
            </a:extLst>
          </p:cNvPr>
          <p:cNvSpPr txBox="1"/>
          <p:nvPr/>
        </p:nvSpPr>
        <p:spPr>
          <a:xfrm>
            <a:off x="4849331" y="5266755"/>
            <a:ext cx="24933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Alunos</a:t>
            </a:r>
          </a:p>
          <a:p>
            <a:pPr algn="ctr"/>
            <a:r>
              <a:rPr lang="pt-PT" dirty="0"/>
              <a:t>Bruno Santos</a:t>
            </a:r>
          </a:p>
          <a:p>
            <a:pPr algn="ctr"/>
            <a:r>
              <a:rPr lang="pt-PT" dirty="0"/>
              <a:t>Gabriel Pereira</a:t>
            </a:r>
          </a:p>
          <a:p>
            <a:pPr algn="r"/>
            <a:endParaRPr lang="pt-PT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7BB4A310-75E3-95FA-F040-E280B00F1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8484" y="0"/>
            <a:ext cx="2495992" cy="1663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139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9E7E095A-2F9C-4BB7-AD06-7951922D43ED}"/>
              </a:ext>
            </a:extLst>
          </p:cNvPr>
          <p:cNvSpPr txBox="1">
            <a:spLocks/>
          </p:cNvSpPr>
          <p:nvPr/>
        </p:nvSpPr>
        <p:spPr>
          <a:xfrm>
            <a:off x="314024" y="697297"/>
            <a:ext cx="6373514" cy="133351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dirty="0"/>
              <a:t>2.1. Equações Cinemática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C03C1C4-046D-8103-237C-62148E79C818}"/>
              </a:ext>
            </a:extLst>
          </p:cNvPr>
          <p:cNvSpPr txBox="1">
            <a:spLocks/>
          </p:cNvSpPr>
          <p:nvPr/>
        </p:nvSpPr>
        <p:spPr>
          <a:xfrm>
            <a:off x="7024255" y="697297"/>
            <a:ext cx="4180365" cy="145075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dirty="0"/>
              <a:t>2.2. Jacobianos</a:t>
            </a:r>
          </a:p>
        </p:txBody>
      </p:sp>
      <p:pic>
        <p:nvPicPr>
          <p:cNvPr id="8" name="Imagem 7" descr="Uma imagem com texto, Tipo de letra, escrita à mão, caligrafia&#10;&#10;Os conteúdos gerados por IA podem estar incorretos.">
            <a:extLst>
              <a:ext uri="{FF2B5EF4-FFF2-40B4-BE49-F238E27FC236}">
                <a16:creationId xmlns:a16="http://schemas.microsoft.com/office/drawing/2014/main" id="{6A53FF75-F07E-D4A5-CFB4-A584035E9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942" y="1753502"/>
            <a:ext cx="3890467" cy="967359"/>
          </a:xfrm>
          <a:prstGeom prst="rect">
            <a:avLst/>
          </a:prstGeom>
        </p:spPr>
      </p:pic>
      <p:pic>
        <p:nvPicPr>
          <p:cNvPr id="12" name="Imagem 11" descr="Uma imagem com texto, Tipo de letra, escrita à mão, file&#10;&#10;Os conteúdos gerados por IA podem estar incorretos.">
            <a:extLst>
              <a:ext uri="{FF2B5EF4-FFF2-40B4-BE49-F238E27FC236}">
                <a16:creationId xmlns:a16="http://schemas.microsoft.com/office/drawing/2014/main" id="{49995988-6412-8B60-CD50-442776CF6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820" y="1850095"/>
            <a:ext cx="4133880" cy="1333510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DD5FA245-8894-809A-E1DF-533B9ADFE555}"/>
              </a:ext>
            </a:extLst>
          </p:cNvPr>
          <p:cNvSpPr txBox="1"/>
          <p:nvPr/>
        </p:nvSpPr>
        <p:spPr>
          <a:xfrm>
            <a:off x="7865753" y="1480763"/>
            <a:ext cx="1683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 err="1"/>
              <a:t>End-effector</a:t>
            </a:r>
            <a:endParaRPr lang="pt-PT" dirty="0"/>
          </a:p>
        </p:txBody>
      </p:sp>
      <p:pic>
        <p:nvPicPr>
          <p:cNvPr id="15" name="Imagem 14" descr="Uma imagem com texto, Tipo de letra, tipografia, caligrafia&#10;&#10;Os conteúdos gerados por IA podem estar incorretos.">
            <a:extLst>
              <a:ext uri="{FF2B5EF4-FFF2-40B4-BE49-F238E27FC236}">
                <a16:creationId xmlns:a16="http://schemas.microsoft.com/office/drawing/2014/main" id="{3299DA20-974B-5F6F-53C6-E57F780C1E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8186" y="3781313"/>
            <a:ext cx="3698826" cy="944493"/>
          </a:xfrm>
          <a:prstGeom prst="rect">
            <a:avLst/>
          </a:prstGeom>
        </p:spPr>
      </p:pic>
      <p:pic>
        <p:nvPicPr>
          <p:cNvPr id="17" name="Imagem 16" descr="Uma imagem com texto, Tipo de letra, file&#10;&#10;Os conteúdos gerados por IA podem estar incorretos.">
            <a:extLst>
              <a:ext uri="{FF2B5EF4-FFF2-40B4-BE49-F238E27FC236}">
                <a16:creationId xmlns:a16="http://schemas.microsoft.com/office/drawing/2014/main" id="{4DC9BCA3-5081-B421-5464-B553C988AE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6707" y="5099294"/>
            <a:ext cx="5521748" cy="829447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54798680-A774-C3A6-964A-7A538C2B6DAD}"/>
              </a:ext>
            </a:extLst>
          </p:cNvPr>
          <p:cNvSpPr txBox="1"/>
          <p:nvPr/>
        </p:nvSpPr>
        <p:spPr>
          <a:xfrm>
            <a:off x="7865752" y="3612524"/>
            <a:ext cx="2701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Centro de massa 1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3CBE9D4B-E7CC-4F46-41AF-770981E57B4D}"/>
              </a:ext>
            </a:extLst>
          </p:cNvPr>
          <p:cNvSpPr txBox="1"/>
          <p:nvPr/>
        </p:nvSpPr>
        <p:spPr>
          <a:xfrm>
            <a:off x="7755665" y="4914628"/>
            <a:ext cx="2701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Centro de massa 2</a:t>
            </a:r>
          </a:p>
        </p:txBody>
      </p:sp>
    </p:spTree>
    <p:extLst>
      <p:ext uri="{BB962C8B-B14F-4D97-AF65-F5344CB8AC3E}">
        <p14:creationId xmlns:p14="http://schemas.microsoft.com/office/powerpoint/2010/main" val="3765405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395D29-6D17-ED82-5672-9B7C670B0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2.3. Modelo Dinâmico</a:t>
            </a:r>
          </a:p>
        </p:txBody>
      </p:sp>
      <p:pic>
        <p:nvPicPr>
          <p:cNvPr id="4" name="Imagem 3" descr="Uma imagem com Tipo de letra, tipografia, texto, caligrafia&#10;&#10;Os conteúdos gerados por IA podem estar incorretos.">
            <a:extLst>
              <a:ext uri="{FF2B5EF4-FFF2-40B4-BE49-F238E27FC236}">
                <a16:creationId xmlns:a16="http://schemas.microsoft.com/office/drawing/2014/main" id="{A066F22C-CBF6-B1BB-C69E-090858FB9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0305" y="1744593"/>
            <a:ext cx="4515480" cy="905001"/>
          </a:xfrm>
          <a:prstGeom prst="rect">
            <a:avLst/>
          </a:prstGeom>
        </p:spPr>
      </p:pic>
      <p:pic>
        <p:nvPicPr>
          <p:cNvPr id="6" name="Imagem 5" descr="Uma imagem com texto, Tipo de letra, file&#10;&#10;Os conteúdos gerados por IA podem estar incorretos.">
            <a:extLst>
              <a:ext uri="{FF2B5EF4-FFF2-40B4-BE49-F238E27FC236}">
                <a16:creationId xmlns:a16="http://schemas.microsoft.com/office/drawing/2014/main" id="{3BF0D0A5-6248-6955-ABEC-72BC181E8F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5115" y="3307636"/>
            <a:ext cx="7205781" cy="894314"/>
          </a:xfrm>
          <a:prstGeom prst="rect">
            <a:avLst/>
          </a:prstGeom>
        </p:spPr>
      </p:pic>
      <p:pic>
        <p:nvPicPr>
          <p:cNvPr id="8" name="Imagem 7" descr="Uma imagem com Tipo de letra, texto, file, branco&#10;&#10;Os conteúdos gerados por IA podem estar incorretos.">
            <a:extLst>
              <a:ext uri="{FF2B5EF4-FFF2-40B4-BE49-F238E27FC236}">
                <a16:creationId xmlns:a16="http://schemas.microsoft.com/office/drawing/2014/main" id="{AC081A27-954F-D74A-CD2B-27E2C200F3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48" y="4846914"/>
            <a:ext cx="4263211" cy="894108"/>
          </a:xfrm>
          <a:prstGeom prst="rect">
            <a:avLst/>
          </a:prstGeom>
        </p:spPr>
      </p:pic>
      <p:pic>
        <p:nvPicPr>
          <p:cNvPr id="10" name="Imagem 9" descr="Uma imagem com texto, Tipo de letra, file, branco&#10;&#10;Os conteúdos gerados por IA podem estar incorretos.">
            <a:extLst>
              <a:ext uri="{FF2B5EF4-FFF2-40B4-BE49-F238E27FC236}">
                <a16:creationId xmlns:a16="http://schemas.microsoft.com/office/drawing/2014/main" id="{E9B81F2F-AA2D-164E-B4A2-635AAADDD5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7019" y="4812543"/>
            <a:ext cx="4923431" cy="1056300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4AF79A22-D468-8F49-2761-69542FFCC044}"/>
              </a:ext>
            </a:extLst>
          </p:cNvPr>
          <p:cNvSpPr txBox="1"/>
          <p:nvPr/>
        </p:nvSpPr>
        <p:spPr>
          <a:xfrm>
            <a:off x="5109212" y="3097812"/>
            <a:ext cx="2665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Matriz Inércia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4B63624-9553-EFCF-D9BA-4980D6B19144}"/>
              </a:ext>
            </a:extLst>
          </p:cNvPr>
          <p:cNvSpPr txBox="1"/>
          <p:nvPr/>
        </p:nvSpPr>
        <p:spPr>
          <a:xfrm>
            <a:off x="2009533" y="4595680"/>
            <a:ext cx="2665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Vetor Gravidade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21BB1F6-9DB4-EA35-2E89-EDD1A13F5891}"/>
              </a:ext>
            </a:extLst>
          </p:cNvPr>
          <p:cNvSpPr txBox="1"/>
          <p:nvPr/>
        </p:nvSpPr>
        <p:spPr>
          <a:xfrm>
            <a:off x="7516542" y="4443211"/>
            <a:ext cx="2395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Matriz </a:t>
            </a:r>
            <a:r>
              <a:rPr lang="pt-PT" dirty="0" err="1"/>
              <a:t>Coriolis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855403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F22C1B-8A06-FE32-558E-A1F58C741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2.4. Simulação do Robô</a:t>
            </a:r>
          </a:p>
        </p:txBody>
      </p:sp>
      <p:pic>
        <p:nvPicPr>
          <p:cNvPr id="6" name="Imagem 5" descr="Uma imagem com texto, file, Gráfico, diagrama&#10;&#10;Os conteúdos gerados por IA podem estar incorretos.">
            <a:extLst>
              <a:ext uri="{FF2B5EF4-FFF2-40B4-BE49-F238E27FC236}">
                <a16:creationId xmlns:a16="http://schemas.microsoft.com/office/drawing/2014/main" id="{800A1D03-659E-B99F-8486-E74CC8C37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062" y="2488326"/>
            <a:ext cx="11214923" cy="322748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009A0E62-3B73-4823-0437-AADC3AD1776C}"/>
              </a:ext>
            </a:extLst>
          </p:cNvPr>
          <p:cNvSpPr txBox="1"/>
          <p:nvPr/>
        </p:nvSpPr>
        <p:spPr>
          <a:xfrm>
            <a:off x="1097280" y="2015543"/>
            <a:ext cx="419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Diferentes condições iniciais</a:t>
            </a:r>
          </a:p>
        </p:txBody>
      </p:sp>
    </p:spTree>
    <p:extLst>
      <p:ext uri="{BB962C8B-B14F-4D97-AF65-F5344CB8AC3E}">
        <p14:creationId xmlns:p14="http://schemas.microsoft.com/office/powerpoint/2010/main" val="2893714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Uma imagem com texto, diagrama, file, Gráfico&#10;&#10;Os conteúdos gerados por IA podem estar incorretos.">
            <a:extLst>
              <a:ext uri="{FF2B5EF4-FFF2-40B4-BE49-F238E27FC236}">
                <a16:creationId xmlns:a16="http://schemas.microsoft.com/office/drawing/2014/main" id="{FC02F2F5-9A20-F9A9-B3DA-3530D7373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319" y="755698"/>
            <a:ext cx="10213748" cy="5287771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7C740E3F-52B7-D514-B3CA-500E9E286E4F}"/>
              </a:ext>
            </a:extLst>
          </p:cNvPr>
          <p:cNvSpPr txBox="1"/>
          <p:nvPr/>
        </p:nvSpPr>
        <p:spPr>
          <a:xfrm>
            <a:off x="1043319" y="386366"/>
            <a:ext cx="3979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Diferentes valores para a fricção</a:t>
            </a:r>
          </a:p>
        </p:txBody>
      </p:sp>
    </p:spTree>
    <p:extLst>
      <p:ext uri="{BB962C8B-B14F-4D97-AF65-F5344CB8AC3E}">
        <p14:creationId xmlns:p14="http://schemas.microsoft.com/office/powerpoint/2010/main" val="1550080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B01018-7064-6227-E47B-249518517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2.5. Compensação de Gravidade</a:t>
            </a:r>
          </a:p>
        </p:txBody>
      </p:sp>
      <p:pic>
        <p:nvPicPr>
          <p:cNvPr id="4" name="Imagem 3" descr="Uma imagem com Tipo de letra, tipografia, texto, design&#10;&#10;Os conteúdos gerados por IA podem estar incorretos.">
            <a:extLst>
              <a:ext uri="{FF2B5EF4-FFF2-40B4-BE49-F238E27FC236}">
                <a16:creationId xmlns:a16="http://schemas.microsoft.com/office/drawing/2014/main" id="{6527ECA6-8496-8CBE-F09A-A736D9DD3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031" y="1815677"/>
            <a:ext cx="4365938" cy="826950"/>
          </a:xfrm>
          <a:prstGeom prst="rect">
            <a:avLst/>
          </a:prstGeom>
        </p:spPr>
      </p:pic>
      <p:pic>
        <p:nvPicPr>
          <p:cNvPr id="6" name="Imagem 5" descr="Uma imagem com texto, Gráfico, file, número&#10;&#10;Os conteúdos gerados por IA podem estar incorretos.">
            <a:extLst>
              <a:ext uri="{FF2B5EF4-FFF2-40B4-BE49-F238E27FC236}">
                <a16:creationId xmlns:a16="http://schemas.microsoft.com/office/drawing/2014/main" id="{36511E5A-47F2-E4AC-5A91-33A8DD6EB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7491" y="2595093"/>
            <a:ext cx="7937978" cy="3709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589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m texto, Gráfico, file, captura de ecrã&#10;&#10;Os conteúdos gerados por IA podem estar incorretos.">
            <a:extLst>
              <a:ext uri="{FF2B5EF4-FFF2-40B4-BE49-F238E27FC236}">
                <a16:creationId xmlns:a16="http://schemas.microsoft.com/office/drawing/2014/main" id="{F126C4A0-9EEA-6874-43CA-6C76C5A89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038" y="3589439"/>
            <a:ext cx="5229595" cy="2424233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918729E4-6FF5-2645-F50E-540AC1732F00}"/>
              </a:ext>
            </a:extLst>
          </p:cNvPr>
          <p:cNvSpPr txBox="1">
            <a:spLocks/>
          </p:cNvSpPr>
          <p:nvPr/>
        </p:nvSpPr>
        <p:spPr>
          <a:xfrm>
            <a:off x="317708" y="250955"/>
            <a:ext cx="10058400" cy="145075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dirty="0"/>
              <a:t>2.6. Controlo de Força Cartesiano</a:t>
            </a:r>
          </a:p>
        </p:txBody>
      </p:sp>
      <p:pic>
        <p:nvPicPr>
          <p:cNvPr id="5" name="Imagem 4" descr="Uma imagem com Tipo de letra, tipografia, file, caligrafia&#10;&#10;Os conteúdos gerados por IA podem estar incorretos.">
            <a:extLst>
              <a:ext uri="{FF2B5EF4-FFF2-40B4-BE49-F238E27FC236}">
                <a16:creationId xmlns:a16="http://schemas.microsoft.com/office/drawing/2014/main" id="{DE4FF419-6287-1BB2-BA7C-FA5522CFC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79" y="1825262"/>
            <a:ext cx="2770777" cy="496497"/>
          </a:xfrm>
          <a:prstGeom prst="rect">
            <a:avLst/>
          </a:prstGeom>
        </p:spPr>
      </p:pic>
      <p:pic>
        <p:nvPicPr>
          <p:cNvPr id="6" name="Imagem 5" descr="Uma imagem com texto, Gráfico, file, diagrama&#10;&#10;Os conteúdos gerados por IA podem estar incorretos.">
            <a:extLst>
              <a:ext uri="{FF2B5EF4-FFF2-40B4-BE49-F238E27FC236}">
                <a16:creationId xmlns:a16="http://schemas.microsoft.com/office/drawing/2014/main" id="{92E48B97-0DF4-A310-581D-1AEC8A2140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323" y="844328"/>
            <a:ext cx="5152572" cy="2383294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010A176-7731-3B4C-B962-719990EA0447}"/>
              </a:ext>
            </a:extLst>
          </p:cNvPr>
          <p:cNvSpPr txBox="1"/>
          <p:nvPr/>
        </p:nvSpPr>
        <p:spPr>
          <a:xfrm>
            <a:off x="7719722" y="3129177"/>
            <a:ext cx="4205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Caso 1: Força Vertical (</a:t>
            </a:r>
            <a:r>
              <a:rPr lang="pt-PT" dirty="0" err="1"/>
              <a:t>Fc</a:t>
            </a:r>
            <a:r>
              <a:rPr lang="pt-PT" dirty="0"/>
              <a:t> = [0,−10]</a:t>
            </a:r>
            <a:r>
              <a:rPr lang="pt-PT" baseline="30000" dirty="0"/>
              <a:t> T</a:t>
            </a:r>
            <a:r>
              <a:rPr lang="pt-PT" dirty="0"/>
              <a:t> )</a:t>
            </a:r>
          </a:p>
        </p:txBody>
      </p:sp>
      <p:pic>
        <p:nvPicPr>
          <p:cNvPr id="8" name="Imagem 7" descr="Uma imagem com texto, Gráfico, file, diagrama&#10;&#10;Os conteúdos gerados por IA podem estar incorretos.">
            <a:extLst>
              <a:ext uri="{FF2B5EF4-FFF2-40B4-BE49-F238E27FC236}">
                <a16:creationId xmlns:a16="http://schemas.microsoft.com/office/drawing/2014/main" id="{327A1A0E-54FC-05E8-0555-429C8749E9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457" y="3350208"/>
            <a:ext cx="5400921" cy="2569121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25EBD268-2A80-80ED-EF95-656A356D7988}"/>
              </a:ext>
            </a:extLst>
          </p:cNvPr>
          <p:cNvSpPr txBox="1"/>
          <p:nvPr/>
        </p:nvSpPr>
        <p:spPr>
          <a:xfrm>
            <a:off x="1218172" y="5919329"/>
            <a:ext cx="3746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Caso 2: Força Horizontal (</a:t>
            </a:r>
            <a:r>
              <a:rPr lang="pt-PT" dirty="0" err="1"/>
              <a:t>Fc</a:t>
            </a:r>
            <a:r>
              <a:rPr lang="pt-PT" dirty="0"/>
              <a:t> = [10,0]</a:t>
            </a:r>
            <a:r>
              <a:rPr lang="pt-PT" baseline="30000" dirty="0"/>
              <a:t> T</a:t>
            </a:r>
            <a:r>
              <a:rPr lang="pt-PT" dirty="0"/>
              <a:t> )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2791D07-D318-C2B9-D226-0702EDE987D8}"/>
              </a:ext>
            </a:extLst>
          </p:cNvPr>
          <p:cNvSpPr txBox="1"/>
          <p:nvPr/>
        </p:nvSpPr>
        <p:spPr>
          <a:xfrm>
            <a:off x="7522426" y="5919329"/>
            <a:ext cx="4191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Caso 3: Força Diagonal (</a:t>
            </a:r>
            <a:r>
              <a:rPr lang="pt-PT" dirty="0" err="1"/>
              <a:t>Fc</a:t>
            </a:r>
            <a:r>
              <a:rPr lang="pt-PT" dirty="0"/>
              <a:t> = [10,-10]</a:t>
            </a:r>
            <a:r>
              <a:rPr lang="pt-PT" baseline="30000" dirty="0"/>
              <a:t> T</a:t>
            </a:r>
            <a:r>
              <a:rPr lang="pt-PT" dirty="0"/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192382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857750-C6A9-AC97-4F3E-FA14BD869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1094720" cy="1450757"/>
          </a:xfrm>
        </p:spPr>
        <p:txBody>
          <a:bodyPr>
            <a:normAutofit/>
          </a:bodyPr>
          <a:lstStyle/>
          <a:p>
            <a:r>
              <a:rPr lang="pt-PT" sz="4500" dirty="0"/>
              <a:t>2.7. Controlo de Posição no Espaço de Trabalho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9695431F-33CB-9639-78A0-B05B1018A338}"/>
              </a:ext>
            </a:extLst>
          </p:cNvPr>
          <p:cNvGrpSpPr/>
          <p:nvPr/>
        </p:nvGrpSpPr>
        <p:grpSpPr>
          <a:xfrm>
            <a:off x="680177" y="3296776"/>
            <a:ext cx="4590780" cy="1558252"/>
            <a:chOff x="3400049" y="2966973"/>
            <a:chExt cx="5605850" cy="2014976"/>
          </a:xfrm>
        </p:grpSpPr>
        <p:pic>
          <p:nvPicPr>
            <p:cNvPr id="4" name="Imagem 3" descr="Uma imagem com Tipo de letra, texto, file, branco&#10;&#10;Os conteúdos gerados por IA podem estar incorretos.">
              <a:extLst>
                <a:ext uri="{FF2B5EF4-FFF2-40B4-BE49-F238E27FC236}">
                  <a16:creationId xmlns:a16="http://schemas.microsoft.com/office/drawing/2014/main" id="{FD5B8645-1593-9BCD-909B-7FBB03FF2C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4642"/>
            <a:stretch>
              <a:fillRect/>
            </a:stretch>
          </p:blipFill>
          <p:spPr>
            <a:xfrm>
              <a:off x="3400049" y="2966973"/>
              <a:ext cx="5605850" cy="1007488"/>
            </a:xfrm>
            <a:prstGeom prst="rect">
              <a:avLst/>
            </a:prstGeom>
          </p:spPr>
        </p:pic>
        <p:pic>
          <p:nvPicPr>
            <p:cNvPr id="6" name="Imagem 5" descr="Uma imagem com Tipo de letra, tipografia, texto, branco&#10;&#10;Os conteúdos gerados por IA podem estar incorretos.">
              <a:extLst>
                <a:ext uri="{FF2B5EF4-FFF2-40B4-BE49-F238E27FC236}">
                  <a16:creationId xmlns:a16="http://schemas.microsoft.com/office/drawing/2014/main" id="{48FBDD91-A82E-0969-9496-A0729EF108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72824" y="3974461"/>
              <a:ext cx="4860300" cy="1007488"/>
            </a:xfrm>
            <a:prstGeom prst="rect">
              <a:avLst/>
            </a:prstGeom>
          </p:spPr>
        </p:pic>
      </p:grpSp>
      <p:pic>
        <p:nvPicPr>
          <p:cNvPr id="9" name="Imagem 8" descr="Uma imagem com Tipo de letra, texto, branco, tipografia&#10;&#10;Os conteúdos gerados por IA podem estar incorretos.">
            <a:extLst>
              <a:ext uri="{FF2B5EF4-FFF2-40B4-BE49-F238E27FC236}">
                <a16:creationId xmlns:a16="http://schemas.microsoft.com/office/drawing/2014/main" id="{ABD913C2-3E4C-07CD-58C4-DC2EBC3563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9843" y="3296776"/>
            <a:ext cx="4665623" cy="1725641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0F9A7D71-D1CF-3396-29E8-170356E41736}"/>
              </a:ext>
            </a:extLst>
          </p:cNvPr>
          <p:cNvSpPr txBox="1"/>
          <p:nvPr/>
        </p:nvSpPr>
        <p:spPr>
          <a:xfrm>
            <a:off x="1669142" y="2927444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Equações trajetória elítica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37BC91A-2564-68CB-4B85-A8A839BC11F3}"/>
              </a:ext>
            </a:extLst>
          </p:cNvPr>
          <p:cNvSpPr txBox="1"/>
          <p:nvPr/>
        </p:nvSpPr>
        <p:spPr>
          <a:xfrm>
            <a:off x="7336971" y="2926240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Equações trajetória vertical</a:t>
            </a:r>
          </a:p>
        </p:txBody>
      </p:sp>
    </p:spTree>
    <p:extLst>
      <p:ext uri="{BB962C8B-B14F-4D97-AF65-F5344CB8AC3E}">
        <p14:creationId xmlns:p14="http://schemas.microsoft.com/office/powerpoint/2010/main" val="807789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m diagrama, Esquema, Desenho técnico, texto&#10;&#10;Os conteúdos gerados por IA podem estar incorretos.">
            <a:extLst>
              <a:ext uri="{FF2B5EF4-FFF2-40B4-BE49-F238E27FC236}">
                <a16:creationId xmlns:a16="http://schemas.microsoft.com/office/drawing/2014/main" id="{29F12C29-1C22-50FB-4DCF-40ED2B89D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72" y="595086"/>
            <a:ext cx="10683403" cy="4504076"/>
          </a:xfrm>
          <a:prstGeom prst="rect">
            <a:avLst/>
          </a:prstGeom>
        </p:spPr>
      </p:pic>
      <p:pic>
        <p:nvPicPr>
          <p:cNvPr id="5" name="Imagem 4" descr="Uma imagem com Tipo de letra, texto, diagrama, branco&#10;&#10;Os conteúdos gerados por IA podem estar incorretos.">
            <a:extLst>
              <a:ext uri="{FF2B5EF4-FFF2-40B4-BE49-F238E27FC236}">
                <a16:creationId xmlns:a16="http://schemas.microsoft.com/office/drawing/2014/main" id="{9E34C141-50B5-1769-22C5-C48CFE9D04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7636"/>
          <a:stretch>
            <a:fillRect/>
          </a:stretch>
        </p:blipFill>
        <p:spPr>
          <a:xfrm>
            <a:off x="3063209" y="5407129"/>
            <a:ext cx="2274894" cy="67279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DE5E8F0-49BC-7AC8-AAA2-E558129ED9DC}"/>
              </a:ext>
            </a:extLst>
          </p:cNvPr>
          <p:cNvSpPr txBox="1"/>
          <p:nvPr/>
        </p:nvSpPr>
        <p:spPr>
          <a:xfrm>
            <a:off x="682172" y="171787"/>
            <a:ext cx="7071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Diagrama </a:t>
            </a:r>
            <a:r>
              <a:rPr lang="pt-PT" dirty="0" err="1"/>
              <a:t>simulink</a:t>
            </a:r>
            <a:r>
              <a:rPr lang="pt-PT" dirty="0"/>
              <a:t> para o controlo de posição no espaço de trabalho</a:t>
            </a:r>
          </a:p>
        </p:txBody>
      </p:sp>
      <p:pic>
        <p:nvPicPr>
          <p:cNvPr id="8" name="Imagem 7" descr="Uma imagem com Tipo de letra, diagrama, file, número&#10;&#10;Os conteúdos gerados por IA podem estar incorretos.">
            <a:extLst>
              <a:ext uri="{FF2B5EF4-FFF2-40B4-BE49-F238E27FC236}">
                <a16:creationId xmlns:a16="http://schemas.microsoft.com/office/drawing/2014/main" id="{0D4E2969-8EE4-5904-E200-A4A9BDCC21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7244" y="5225701"/>
            <a:ext cx="1831573" cy="85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834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Uma imagem com texto, diagrama, Gráfico, file&#10;&#10;Os conteúdos gerados por IA podem estar incorretos.">
            <a:extLst>
              <a:ext uri="{FF2B5EF4-FFF2-40B4-BE49-F238E27FC236}">
                <a16:creationId xmlns:a16="http://schemas.microsoft.com/office/drawing/2014/main" id="{6BE7FA23-0D8D-6DF2-7F26-7B62BB6AD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17" y="609600"/>
            <a:ext cx="4961246" cy="2764550"/>
          </a:xfrm>
          <a:prstGeom prst="rect">
            <a:avLst/>
          </a:prstGeom>
        </p:spPr>
      </p:pic>
      <p:pic>
        <p:nvPicPr>
          <p:cNvPr id="9" name="Imagem 8" descr="Uma imagem com texto, diagrama, Gráfico, file&#10;&#10;Os conteúdos gerados por IA podem estar incorretos.">
            <a:extLst>
              <a:ext uri="{FF2B5EF4-FFF2-40B4-BE49-F238E27FC236}">
                <a16:creationId xmlns:a16="http://schemas.microsoft.com/office/drawing/2014/main" id="{CB8FC20F-1AA8-C914-0AA6-C600E8477B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75" y="3441500"/>
            <a:ext cx="4961247" cy="2702769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5EB30BB2-3A31-F7CD-D4C0-570452AB94DA}"/>
              </a:ext>
            </a:extLst>
          </p:cNvPr>
          <p:cNvSpPr txBox="1"/>
          <p:nvPr/>
        </p:nvSpPr>
        <p:spPr>
          <a:xfrm>
            <a:off x="106590" y="240268"/>
            <a:ext cx="5936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Diferentes controlos de ganho na trajetória elíptica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055C8D7-051D-35BE-44E9-C92EB28CF7BE}"/>
              </a:ext>
            </a:extLst>
          </p:cNvPr>
          <p:cNvSpPr txBox="1"/>
          <p:nvPr/>
        </p:nvSpPr>
        <p:spPr>
          <a:xfrm>
            <a:off x="6337836" y="229398"/>
            <a:ext cx="5936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Diferentes controlos de ganho na trajetória elíptica</a:t>
            </a:r>
          </a:p>
        </p:txBody>
      </p:sp>
      <p:pic>
        <p:nvPicPr>
          <p:cNvPr id="15" name="Imagem 14" descr="Uma imagem com texto, Gráfico, diagrama, captura de ecrã&#10;&#10;Os conteúdos gerados por IA podem estar incorretos.">
            <a:extLst>
              <a:ext uri="{FF2B5EF4-FFF2-40B4-BE49-F238E27FC236}">
                <a16:creationId xmlns:a16="http://schemas.microsoft.com/office/drawing/2014/main" id="{B2998979-2750-C257-9E5B-2F4A7840F4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7035" y="633345"/>
            <a:ext cx="4883973" cy="2648812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71625F07-7031-AE18-7BAE-1358058B0255}"/>
              </a:ext>
            </a:extLst>
          </p:cNvPr>
          <p:cNvSpPr txBox="1"/>
          <p:nvPr/>
        </p:nvSpPr>
        <p:spPr>
          <a:xfrm>
            <a:off x="4958373" y="1463126"/>
            <a:ext cx="254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P controlo </a:t>
            </a:r>
          </a:p>
          <a:p>
            <a:r>
              <a:rPr lang="pt-PT" dirty="0" err="1"/>
              <a:t>K</a:t>
            </a:r>
            <a:r>
              <a:rPr lang="pt-PT" baseline="-25000" dirty="0" err="1"/>
              <a:t>p</a:t>
            </a:r>
            <a:r>
              <a:rPr lang="pt-PT" dirty="0"/>
              <a:t> = 45</a:t>
            </a:r>
          </a:p>
        </p:txBody>
      </p:sp>
      <p:pic>
        <p:nvPicPr>
          <p:cNvPr id="18" name="Imagem 17" descr="Uma imagem com texto, diagrama, Gráfico, file&#10;&#10;Os conteúdos gerados por IA podem estar incorretos.">
            <a:extLst>
              <a:ext uri="{FF2B5EF4-FFF2-40B4-BE49-F238E27FC236}">
                <a16:creationId xmlns:a16="http://schemas.microsoft.com/office/drawing/2014/main" id="{BAD9D921-D5DE-2954-4881-2A6DDE5C04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495" y="3468478"/>
            <a:ext cx="4885584" cy="2648812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F1FCA601-EF9D-654B-FC60-000644941914}"/>
              </a:ext>
            </a:extLst>
          </p:cNvPr>
          <p:cNvSpPr txBox="1"/>
          <p:nvPr/>
        </p:nvSpPr>
        <p:spPr>
          <a:xfrm>
            <a:off x="11010933" y="3953266"/>
            <a:ext cx="254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PD </a:t>
            </a:r>
            <a:r>
              <a:rPr lang="en-US" dirty="0" err="1"/>
              <a:t>controlo</a:t>
            </a:r>
            <a:r>
              <a:rPr lang="en-US" dirty="0"/>
              <a:t> </a:t>
            </a:r>
          </a:p>
          <a:p>
            <a:r>
              <a:rPr lang="en-US" dirty="0"/>
              <a:t>K</a:t>
            </a:r>
            <a:r>
              <a:rPr lang="pt-PT" baseline="-25000" dirty="0"/>
              <a:t>p</a:t>
            </a:r>
            <a:r>
              <a:rPr lang="en-US" dirty="0"/>
              <a:t> = 2000</a:t>
            </a:r>
          </a:p>
          <a:p>
            <a:r>
              <a:rPr lang="en-US" dirty="0"/>
              <a:t>K</a:t>
            </a:r>
            <a:r>
              <a:rPr lang="pt-PT" baseline="-25000" dirty="0"/>
              <a:t>d</a:t>
            </a:r>
            <a:r>
              <a:rPr lang="en-US" dirty="0"/>
              <a:t> = 77,5</a:t>
            </a:r>
            <a:endParaRPr lang="pt-PT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B4CC68CC-538D-5301-1A82-6A93B35CD19A}"/>
              </a:ext>
            </a:extLst>
          </p:cNvPr>
          <p:cNvSpPr txBox="1"/>
          <p:nvPr/>
        </p:nvSpPr>
        <p:spPr>
          <a:xfrm>
            <a:off x="4917035" y="4286879"/>
            <a:ext cx="254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PD </a:t>
            </a:r>
            <a:r>
              <a:rPr lang="en-US" dirty="0" err="1"/>
              <a:t>controlo</a:t>
            </a:r>
            <a:r>
              <a:rPr lang="en-US" dirty="0"/>
              <a:t> </a:t>
            </a:r>
          </a:p>
          <a:p>
            <a:r>
              <a:rPr lang="en-US" dirty="0"/>
              <a:t>K</a:t>
            </a:r>
            <a:r>
              <a:rPr lang="pt-PT" baseline="-25000" dirty="0"/>
              <a:t>p</a:t>
            </a:r>
            <a:r>
              <a:rPr lang="en-US" dirty="0"/>
              <a:t> = 2000</a:t>
            </a:r>
          </a:p>
          <a:p>
            <a:r>
              <a:rPr lang="en-US" dirty="0"/>
              <a:t>K</a:t>
            </a:r>
            <a:r>
              <a:rPr lang="pt-PT" baseline="-25000" dirty="0"/>
              <a:t>d</a:t>
            </a:r>
            <a:r>
              <a:rPr lang="en-US" dirty="0"/>
              <a:t> = 77,5</a:t>
            </a:r>
            <a:endParaRPr lang="pt-PT" dirty="0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7D1F3FC1-48D0-3F02-D5F5-3613BD7DF657}"/>
              </a:ext>
            </a:extLst>
          </p:cNvPr>
          <p:cNvSpPr txBox="1"/>
          <p:nvPr/>
        </p:nvSpPr>
        <p:spPr>
          <a:xfrm>
            <a:off x="11004179" y="1463125"/>
            <a:ext cx="254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P controlo </a:t>
            </a:r>
          </a:p>
          <a:p>
            <a:r>
              <a:rPr lang="pt-PT" dirty="0" err="1"/>
              <a:t>K</a:t>
            </a:r>
            <a:r>
              <a:rPr lang="pt-PT" baseline="-25000" dirty="0" err="1"/>
              <a:t>p</a:t>
            </a:r>
            <a:r>
              <a:rPr lang="pt-PT" dirty="0"/>
              <a:t> = 750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A6BCCED5-56DD-136B-3DC2-C1D6D750746E}"/>
              </a:ext>
            </a:extLst>
          </p:cNvPr>
          <p:cNvSpPr/>
          <p:nvPr/>
        </p:nvSpPr>
        <p:spPr>
          <a:xfrm>
            <a:off x="6115366" y="285083"/>
            <a:ext cx="45719" cy="590400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966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85B23C-D24C-F7A1-7B7F-C58761042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335" y="350997"/>
            <a:ext cx="12440992" cy="1450757"/>
          </a:xfrm>
        </p:spPr>
        <p:txBody>
          <a:bodyPr>
            <a:normAutofit/>
          </a:bodyPr>
          <a:lstStyle/>
          <a:p>
            <a:r>
              <a:rPr lang="pt-PT" sz="4500" dirty="0"/>
              <a:t>2.8. Controlo de </a:t>
            </a:r>
            <a:r>
              <a:rPr lang="pt-PT" sz="4500" dirty="0" err="1"/>
              <a:t>Compliance</a:t>
            </a:r>
            <a:r>
              <a:rPr lang="pt-PT" sz="4500" dirty="0"/>
              <a:t> e Interação com o Osso</a:t>
            </a:r>
          </a:p>
        </p:txBody>
      </p:sp>
      <p:pic>
        <p:nvPicPr>
          <p:cNvPr id="4" name="Imagem 3" descr="Uma imagem com diagrama, texto, Esquema, file&#10;&#10;Os conteúdos gerados por IA podem estar incorretos.">
            <a:extLst>
              <a:ext uri="{FF2B5EF4-FFF2-40B4-BE49-F238E27FC236}">
                <a16:creationId xmlns:a16="http://schemas.microsoft.com/office/drawing/2014/main" id="{490FEF68-9808-8062-5763-21918EAF1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644" y="2157361"/>
            <a:ext cx="8322759" cy="360593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E014FDFA-B9DF-2C5E-2310-6F4DA22FB137}"/>
              </a:ext>
            </a:extLst>
          </p:cNvPr>
          <p:cNvSpPr txBox="1"/>
          <p:nvPr/>
        </p:nvSpPr>
        <p:spPr>
          <a:xfrm>
            <a:off x="1149653" y="5763296"/>
            <a:ext cx="11490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Diagrama </a:t>
            </a:r>
            <a:r>
              <a:rPr lang="pt-PT" dirty="0" err="1"/>
              <a:t>Simulink</a:t>
            </a:r>
            <a:r>
              <a:rPr lang="pt-PT" dirty="0"/>
              <a:t> para o controlo de </a:t>
            </a:r>
            <a:r>
              <a:rPr lang="pt-PT" dirty="0" err="1"/>
              <a:t>compliance</a:t>
            </a:r>
            <a:r>
              <a:rPr lang="pt-PT" dirty="0"/>
              <a:t> na espaço de trabalho com compensação de gravidade</a:t>
            </a:r>
          </a:p>
        </p:txBody>
      </p:sp>
    </p:spTree>
    <p:extLst>
      <p:ext uri="{BB962C8B-B14F-4D97-AF65-F5344CB8AC3E}">
        <p14:creationId xmlns:p14="http://schemas.microsoft.com/office/powerpoint/2010/main" val="2056748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25E61EF-0082-1ABE-E1CF-C5ABA73285F1}"/>
              </a:ext>
            </a:extLst>
          </p:cNvPr>
          <p:cNvSpPr txBox="1"/>
          <p:nvPr/>
        </p:nvSpPr>
        <p:spPr>
          <a:xfrm>
            <a:off x="753414" y="193183"/>
            <a:ext cx="2955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Forças que atuam</a:t>
            </a:r>
          </a:p>
        </p:txBody>
      </p:sp>
      <p:pic>
        <p:nvPicPr>
          <p:cNvPr id="4" name="Imagem 3" descr="Uma imagem com texto, Tipo de letra, escrita à mão, file&#10;&#10;Os conteúdos gerados por IA podem estar incorretos.">
            <a:extLst>
              <a:ext uri="{FF2B5EF4-FFF2-40B4-BE49-F238E27FC236}">
                <a16:creationId xmlns:a16="http://schemas.microsoft.com/office/drawing/2014/main" id="{4C797C00-0301-5046-EEE6-4B99B37A8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407" y="726351"/>
            <a:ext cx="3801476" cy="1175175"/>
          </a:xfrm>
          <a:prstGeom prst="rect">
            <a:avLst/>
          </a:prstGeom>
        </p:spPr>
      </p:pic>
      <p:pic>
        <p:nvPicPr>
          <p:cNvPr id="6" name="Imagem 5" descr="Uma imagem com Tipo de letra, texto, file, branco&#10;&#10;Os conteúdos gerados por IA podem estar incorretos.">
            <a:extLst>
              <a:ext uri="{FF2B5EF4-FFF2-40B4-BE49-F238E27FC236}">
                <a16:creationId xmlns:a16="http://schemas.microsoft.com/office/drawing/2014/main" id="{F7E070B9-039C-8C5A-0CCF-9B0176187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09244"/>
            <a:ext cx="2150783" cy="60938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B3053EC-70CE-DCE3-DF8D-7219441A41E1}"/>
              </a:ext>
            </a:extLst>
          </p:cNvPr>
          <p:cNvSpPr txBox="1"/>
          <p:nvPr/>
        </p:nvSpPr>
        <p:spPr>
          <a:xfrm>
            <a:off x="882203" y="2414789"/>
            <a:ext cx="4758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Seleção do </a:t>
            </a:r>
            <a:r>
              <a:rPr lang="pt-PT" dirty="0" err="1"/>
              <a:t>compliance</a:t>
            </a:r>
            <a:r>
              <a:rPr lang="pt-PT" dirty="0"/>
              <a:t> nas diferentes fases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EEBEF5A-65F8-8426-E0C3-E282B0B89DEC}"/>
              </a:ext>
            </a:extLst>
          </p:cNvPr>
          <p:cNvSpPr txBox="1"/>
          <p:nvPr/>
        </p:nvSpPr>
        <p:spPr>
          <a:xfrm>
            <a:off x="1056068" y="2955701"/>
            <a:ext cx="400532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Fase 1</a:t>
            </a:r>
          </a:p>
          <a:p>
            <a:pPr marL="285750" indent="-285750">
              <a:buFontTx/>
              <a:buChar char="-"/>
            </a:pPr>
            <a:r>
              <a:rPr lang="pt-PT" dirty="0"/>
              <a:t>Aproximação por campo de força virtual</a:t>
            </a:r>
          </a:p>
          <a:p>
            <a:pPr marL="285750" indent="-285750">
              <a:buFontTx/>
              <a:buChar char="-"/>
            </a:pPr>
            <a:r>
              <a:rPr lang="pt-PT" dirty="0" err="1"/>
              <a:t>End-effector</a:t>
            </a:r>
            <a:r>
              <a:rPr lang="pt-PT" dirty="0"/>
              <a:t> vai se aproximar do osso, até à posição inicial, antes de haver contacto</a:t>
            </a:r>
          </a:p>
          <a:p>
            <a:pPr marL="285750" indent="-285750">
              <a:buFontTx/>
              <a:buChar char="-"/>
            </a:pPr>
            <a:r>
              <a:rPr lang="pt-PT" dirty="0"/>
              <a:t>Matriz de ganho:</a:t>
            </a:r>
          </a:p>
          <a:p>
            <a:pPr marL="285750" indent="-285750">
              <a:buFontTx/>
              <a:buChar char="-"/>
            </a:pPr>
            <a:endParaRPr lang="pt-PT" dirty="0"/>
          </a:p>
        </p:txBody>
      </p:sp>
      <p:pic>
        <p:nvPicPr>
          <p:cNvPr id="10" name="Imagem 9" descr="Uma imagem com Tipo de letra, escrita à mão, tipografia, caligrafia&#10;&#10;Os conteúdos gerados por IA podem estar incorretos.">
            <a:extLst>
              <a:ext uri="{FF2B5EF4-FFF2-40B4-BE49-F238E27FC236}">
                <a16:creationId xmlns:a16="http://schemas.microsoft.com/office/drawing/2014/main" id="{090E2561-7B18-EA52-2E58-3C864E0869C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665"/>
          <a:stretch>
            <a:fillRect/>
          </a:stretch>
        </p:blipFill>
        <p:spPr>
          <a:xfrm>
            <a:off x="2259778" y="5016295"/>
            <a:ext cx="1597908" cy="247730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95C61C5B-03EA-CCCD-AF8E-91C15DA2A505}"/>
              </a:ext>
            </a:extLst>
          </p:cNvPr>
          <p:cNvSpPr txBox="1"/>
          <p:nvPr/>
        </p:nvSpPr>
        <p:spPr>
          <a:xfrm>
            <a:off x="6096000" y="2955701"/>
            <a:ext cx="40053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Fase 2</a:t>
            </a:r>
          </a:p>
          <a:p>
            <a:pPr marL="285750" indent="-285750">
              <a:buFontTx/>
              <a:buChar char="-"/>
            </a:pPr>
            <a:r>
              <a:rPr lang="pt-PT" dirty="0"/>
              <a:t>Fase de interação com o osso</a:t>
            </a:r>
          </a:p>
          <a:p>
            <a:pPr marL="285750" indent="-285750">
              <a:buFontTx/>
              <a:buChar char="-"/>
            </a:pPr>
            <a:r>
              <a:rPr lang="pt-PT" dirty="0"/>
              <a:t>Passa a atuar a força do cirurgião</a:t>
            </a:r>
          </a:p>
          <a:p>
            <a:pPr marL="285750" indent="-285750">
              <a:buFontTx/>
              <a:buChar char="-"/>
            </a:pPr>
            <a:r>
              <a:rPr lang="pt-PT" dirty="0"/>
              <a:t>Matriz de ganho:</a:t>
            </a:r>
          </a:p>
          <a:p>
            <a:pPr marL="285750" indent="-285750">
              <a:buFontTx/>
              <a:buChar char="-"/>
            </a:pPr>
            <a:endParaRPr lang="pt-PT" dirty="0"/>
          </a:p>
        </p:txBody>
      </p:sp>
      <p:pic>
        <p:nvPicPr>
          <p:cNvPr id="13" name="Imagem 12" descr="Uma imagem com Tipo de letra, texto, tipografia, escrita à mão&#10;&#10;Os conteúdos gerados por IA podem estar incorretos.">
            <a:extLst>
              <a:ext uri="{FF2B5EF4-FFF2-40B4-BE49-F238E27FC236}">
                <a16:creationId xmlns:a16="http://schemas.microsoft.com/office/drawing/2014/main" id="{9DAC5E47-7B44-E61D-767B-D1CCFC51D6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0605" y="4047836"/>
            <a:ext cx="1922929" cy="770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2251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DA8AA2B-F047-4705-1A5B-9B93F84D4235}"/>
              </a:ext>
            </a:extLst>
          </p:cNvPr>
          <p:cNvSpPr txBox="1"/>
          <p:nvPr/>
        </p:nvSpPr>
        <p:spPr>
          <a:xfrm>
            <a:off x="1558344" y="1126901"/>
            <a:ext cx="8976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Resultado com duas aproximações com ganhos distintos: </a:t>
            </a:r>
            <a:r>
              <a:rPr lang="pt-PT" dirty="0" err="1"/>
              <a:t>Compliant</a:t>
            </a:r>
            <a:r>
              <a:rPr lang="pt-PT" dirty="0"/>
              <a:t> design </a:t>
            </a:r>
            <a:r>
              <a:rPr lang="pt-PT" dirty="0" err="1"/>
              <a:t>vs</a:t>
            </a:r>
            <a:r>
              <a:rPr lang="pt-PT" dirty="0"/>
              <a:t> </a:t>
            </a:r>
            <a:r>
              <a:rPr lang="pt-PT" dirty="0" err="1"/>
              <a:t>Stiff</a:t>
            </a:r>
            <a:r>
              <a:rPr lang="pt-PT" dirty="0"/>
              <a:t> design</a:t>
            </a:r>
          </a:p>
        </p:txBody>
      </p:sp>
      <p:pic>
        <p:nvPicPr>
          <p:cNvPr id="4" name="Imagem 3" descr="Uma imagem com texto, diagrama, file, Gráfico&#10;&#10;Os conteúdos gerados por IA podem estar incorretos.">
            <a:extLst>
              <a:ext uri="{FF2B5EF4-FFF2-40B4-BE49-F238E27FC236}">
                <a16:creationId xmlns:a16="http://schemas.microsoft.com/office/drawing/2014/main" id="{2870C140-07FE-E417-D513-F11C509CD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39" y="1635348"/>
            <a:ext cx="11874321" cy="358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6360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6205CF-DE22-5573-D70B-84D13ED3F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2.9. Controlo de Impedância</a:t>
            </a:r>
          </a:p>
        </p:txBody>
      </p:sp>
      <p:pic>
        <p:nvPicPr>
          <p:cNvPr id="4" name="Imagem 3" descr="Uma imagem com diagrama, Esquema, Desenho técnico, esquemático&#10;&#10;Os conteúdos gerados por IA podem estar incorretos.">
            <a:extLst>
              <a:ext uri="{FF2B5EF4-FFF2-40B4-BE49-F238E27FC236}">
                <a16:creationId xmlns:a16="http://schemas.microsoft.com/office/drawing/2014/main" id="{9AC70609-765F-EBC4-2D23-EC08F75D7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462" y="2086085"/>
            <a:ext cx="8796034" cy="373456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7F4F4DAF-76A8-A13C-4C08-5B05D5803F3E}"/>
              </a:ext>
            </a:extLst>
          </p:cNvPr>
          <p:cNvSpPr txBox="1"/>
          <p:nvPr/>
        </p:nvSpPr>
        <p:spPr>
          <a:xfrm>
            <a:off x="3434795" y="5820647"/>
            <a:ext cx="5383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Diagrama </a:t>
            </a:r>
            <a:r>
              <a:rPr lang="pt-PT" dirty="0" err="1"/>
              <a:t>Simulink</a:t>
            </a:r>
            <a:r>
              <a:rPr lang="pt-PT" dirty="0"/>
              <a:t> para o Controlo de Impedância</a:t>
            </a:r>
          </a:p>
        </p:txBody>
      </p:sp>
    </p:spTree>
    <p:extLst>
      <p:ext uri="{BB962C8B-B14F-4D97-AF65-F5344CB8AC3E}">
        <p14:creationId xmlns:p14="http://schemas.microsoft.com/office/powerpoint/2010/main" val="2371996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4A9A0EB-228C-B526-DFDE-98C65912AFDF}"/>
              </a:ext>
            </a:extLst>
          </p:cNvPr>
          <p:cNvSpPr txBox="1"/>
          <p:nvPr/>
        </p:nvSpPr>
        <p:spPr>
          <a:xfrm>
            <a:off x="373487" y="284986"/>
            <a:ext cx="2814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Definir a reta:</a:t>
            </a:r>
          </a:p>
        </p:txBody>
      </p:sp>
      <p:pic>
        <p:nvPicPr>
          <p:cNvPr id="4" name="Imagem 3" descr="Uma imagem com Tipo de letra, texto, file, branco&#10;&#10;Os conteúdos gerados por IA podem estar incorretos.">
            <a:extLst>
              <a:ext uri="{FF2B5EF4-FFF2-40B4-BE49-F238E27FC236}">
                <a16:creationId xmlns:a16="http://schemas.microsoft.com/office/drawing/2014/main" id="{18BCCFC4-E209-6AC2-D331-1FB0C5B89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993" y="538956"/>
            <a:ext cx="3973694" cy="712569"/>
          </a:xfrm>
          <a:prstGeom prst="rect">
            <a:avLst/>
          </a:prstGeom>
        </p:spPr>
      </p:pic>
      <p:pic>
        <p:nvPicPr>
          <p:cNvPr id="6" name="Imagem 5" descr="Uma imagem com Tipo de letra, tipografia, file, texto&#10;&#10;Os conteúdos gerados por IA podem estar incorretos.">
            <a:extLst>
              <a:ext uri="{FF2B5EF4-FFF2-40B4-BE49-F238E27FC236}">
                <a16:creationId xmlns:a16="http://schemas.microsoft.com/office/drawing/2014/main" id="{2816E3BF-D5F5-1C3D-9A07-D576C578F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993" y="1306540"/>
            <a:ext cx="2151334" cy="317306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1A58648-2C4E-A6D0-A6DD-C6AC9FD7ADE1}"/>
              </a:ext>
            </a:extLst>
          </p:cNvPr>
          <p:cNvSpPr txBox="1"/>
          <p:nvPr/>
        </p:nvSpPr>
        <p:spPr>
          <a:xfrm>
            <a:off x="6961031" y="284986"/>
            <a:ext cx="3876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Transformação de coordenadas:</a:t>
            </a:r>
          </a:p>
        </p:txBody>
      </p:sp>
      <p:pic>
        <p:nvPicPr>
          <p:cNvPr id="9" name="Imagem 8" descr="Uma imagem com Tipo de letra, texto, tipografia, file&#10;&#10;Os conteúdos gerados por IA podem estar incorretos.">
            <a:extLst>
              <a:ext uri="{FF2B5EF4-FFF2-40B4-BE49-F238E27FC236}">
                <a16:creationId xmlns:a16="http://schemas.microsoft.com/office/drawing/2014/main" id="{822320C5-04FB-E860-0963-DB9F442297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6537" y="538956"/>
            <a:ext cx="2907633" cy="824159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9BA7DD71-6A30-F310-ADC1-73695A44F3B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7067" b="-1"/>
          <a:stretch>
            <a:fillRect/>
          </a:stretch>
        </p:blipFill>
        <p:spPr>
          <a:xfrm>
            <a:off x="8138887" y="1393970"/>
            <a:ext cx="1913074" cy="260730"/>
          </a:xfrm>
          <a:prstGeom prst="rect">
            <a:avLst/>
          </a:prstGeom>
        </p:spPr>
      </p:pic>
      <p:pic>
        <p:nvPicPr>
          <p:cNvPr id="18" name="Imagem 17" descr="Uma imagem com texto, diagrama, Gráfico, file&#10;&#10;Os conteúdos gerados por IA podem estar incorretos.">
            <a:extLst>
              <a:ext uri="{FF2B5EF4-FFF2-40B4-BE49-F238E27FC236}">
                <a16:creationId xmlns:a16="http://schemas.microsoft.com/office/drawing/2014/main" id="{1D97E450-7277-C07C-ED0C-BDF4EE2151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8271" y="2065546"/>
            <a:ext cx="7729471" cy="4131149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6102F16F-0623-E125-643B-760BFAFC6C75}"/>
              </a:ext>
            </a:extLst>
          </p:cNvPr>
          <p:cNvSpPr txBox="1"/>
          <p:nvPr/>
        </p:nvSpPr>
        <p:spPr>
          <a:xfrm>
            <a:off x="5402687" y="1745088"/>
            <a:ext cx="1474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Resultado</a:t>
            </a:r>
          </a:p>
        </p:txBody>
      </p:sp>
    </p:spTree>
    <p:extLst>
      <p:ext uri="{BB962C8B-B14F-4D97-AF65-F5344CB8AC3E}">
        <p14:creationId xmlns:p14="http://schemas.microsoft.com/office/powerpoint/2010/main" val="12899197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571CA7-61F5-3023-3866-1F56FCD8B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PT" dirty="0"/>
              <a:t>3. Design de Trajetória – Movimento numa linha reta evitando um espaço nulo</a:t>
            </a:r>
          </a:p>
        </p:txBody>
      </p:sp>
      <p:pic>
        <p:nvPicPr>
          <p:cNvPr id="4" name="Imagem 3" descr="Uma imagem com diagrama, Esquema, Desenho técnico, esboço&#10;&#10;Os conteúdos gerados por IA podem estar incorretos.">
            <a:extLst>
              <a:ext uri="{FF2B5EF4-FFF2-40B4-BE49-F238E27FC236}">
                <a16:creationId xmlns:a16="http://schemas.microsoft.com/office/drawing/2014/main" id="{EF45B855-005A-4E4B-90FD-CDF7E0087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392" y="1971886"/>
            <a:ext cx="8824175" cy="3608399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DAC6E924-CCB6-4629-364B-1F4F7BF58F1F}"/>
              </a:ext>
            </a:extLst>
          </p:cNvPr>
          <p:cNvSpPr txBox="1"/>
          <p:nvPr/>
        </p:nvSpPr>
        <p:spPr>
          <a:xfrm>
            <a:off x="3552422" y="5724659"/>
            <a:ext cx="5087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Diagrama </a:t>
            </a:r>
            <a:r>
              <a:rPr lang="pt-PT" dirty="0" err="1"/>
              <a:t>Simulink</a:t>
            </a:r>
            <a:r>
              <a:rPr lang="pt-PT" dirty="0"/>
              <a:t> para resolução da redundância</a:t>
            </a:r>
          </a:p>
        </p:txBody>
      </p:sp>
    </p:spTree>
    <p:extLst>
      <p:ext uri="{BB962C8B-B14F-4D97-AF65-F5344CB8AC3E}">
        <p14:creationId xmlns:p14="http://schemas.microsoft.com/office/powerpoint/2010/main" val="17273945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m texto, captura de ecrã, Gráfico, diagrama&#10;&#10;Os conteúdos gerados por IA podem estar incorretos.">
            <a:extLst>
              <a:ext uri="{FF2B5EF4-FFF2-40B4-BE49-F238E27FC236}">
                <a16:creationId xmlns:a16="http://schemas.microsoft.com/office/drawing/2014/main" id="{CAB2C131-64DF-63E4-FE3F-92AC87A63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112" y="954710"/>
            <a:ext cx="11057775" cy="5053284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EBE50D68-1A6C-0D5C-E382-A308DDCBDA46}"/>
              </a:ext>
            </a:extLst>
          </p:cNvPr>
          <p:cNvSpPr txBox="1"/>
          <p:nvPr/>
        </p:nvSpPr>
        <p:spPr>
          <a:xfrm>
            <a:off x="2486695" y="518906"/>
            <a:ext cx="7218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Resultado do robô a percorrer uma trajetória evitando uma área vital</a:t>
            </a:r>
          </a:p>
        </p:txBody>
      </p:sp>
    </p:spTree>
    <p:extLst>
      <p:ext uri="{BB962C8B-B14F-4D97-AF65-F5344CB8AC3E}">
        <p14:creationId xmlns:p14="http://schemas.microsoft.com/office/powerpoint/2010/main" val="15236323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D64C64-96C4-1B15-7A8E-ABF66B5F1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4. Research: </a:t>
            </a:r>
            <a:r>
              <a:rPr lang="pt-PT" dirty="0" err="1"/>
              <a:t>Comanipulação</a:t>
            </a:r>
            <a:r>
              <a:rPr lang="pt-PT" dirty="0"/>
              <a:t> Assistida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EC35523-A6FD-BE90-5535-E72B663475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357" b="12488"/>
          <a:stretch>
            <a:fillRect/>
          </a:stretch>
        </p:blipFill>
        <p:spPr>
          <a:xfrm>
            <a:off x="374359" y="1796603"/>
            <a:ext cx="2814281" cy="396025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EB351C08-9ACE-8BA8-F264-9122E982F45E}"/>
              </a:ext>
            </a:extLst>
          </p:cNvPr>
          <p:cNvSpPr txBox="1"/>
          <p:nvPr/>
        </p:nvSpPr>
        <p:spPr>
          <a:xfrm>
            <a:off x="551566" y="5756856"/>
            <a:ext cx="24598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 err="1"/>
              <a:t>Ufactory</a:t>
            </a:r>
            <a:r>
              <a:rPr lang="pt-PT" dirty="0"/>
              <a:t> Lite 6 – braço robô utilizado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C656AB5-FA6D-AE65-058B-9D321B5E9B16}"/>
              </a:ext>
            </a:extLst>
          </p:cNvPr>
          <p:cNvSpPr txBox="1"/>
          <p:nvPr/>
        </p:nvSpPr>
        <p:spPr>
          <a:xfrm>
            <a:off x="4101921" y="2009104"/>
            <a:ext cx="665837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Usando o seguinte braço robótico foi definida uma trajetória segura que se pretendia efetuar contornando um objeto, servindo de exemplo.  </a:t>
            </a:r>
          </a:p>
          <a:p>
            <a:r>
              <a:rPr lang="pt-PT" dirty="0"/>
              <a:t>Manualmente, aplicando força no robô, realizamos a trajetória pretendida e o robô assume o comando e corrige a trajetória quando nos desviamos da mesma, saindo da área segura.</a:t>
            </a:r>
          </a:p>
          <a:p>
            <a:endParaRPr lang="pt-PT" dirty="0"/>
          </a:p>
          <a:p>
            <a:r>
              <a:rPr lang="pt-PT" dirty="0"/>
              <a:t>Métodos implementados no robô: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Compensação de gravidade (utilizando o Modo 2 do robô)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Monitoramento cartesiano em tempo real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Trajetória virtual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Mecanismo de correção automático da trajetória</a:t>
            </a:r>
          </a:p>
        </p:txBody>
      </p:sp>
    </p:spTree>
    <p:extLst>
      <p:ext uri="{BB962C8B-B14F-4D97-AF65-F5344CB8AC3E}">
        <p14:creationId xmlns:p14="http://schemas.microsoft.com/office/powerpoint/2010/main" val="65817870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tiva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Retrospe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149</TotalTime>
  <Words>421</Words>
  <Application>Microsoft Office PowerPoint</Application>
  <PresentationFormat>Ecrã Panorâmico</PresentationFormat>
  <Paragraphs>69</Paragraphs>
  <Slides>18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Retrospetiva</vt:lpstr>
      <vt:lpstr>Control and Trajectory Design for Bone Surgeries</vt:lpstr>
      <vt:lpstr>Apresentação do PowerPoint</vt:lpstr>
      <vt:lpstr>2.3. Modelo Dinâmico</vt:lpstr>
      <vt:lpstr>2.4. Simulação do Robô</vt:lpstr>
      <vt:lpstr>Apresentação do PowerPoint</vt:lpstr>
      <vt:lpstr>2.5. Compensação de Gravidade</vt:lpstr>
      <vt:lpstr>Apresentação do PowerPoint</vt:lpstr>
      <vt:lpstr>2.7. Controlo de Posição no Espaço de Trabalho</vt:lpstr>
      <vt:lpstr>Apresentação do PowerPoint</vt:lpstr>
      <vt:lpstr>Apresentação do PowerPoint</vt:lpstr>
      <vt:lpstr>2.8. Controlo de Compliance e Interação com o Osso</vt:lpstr>
      <vt:lpstr>Apresentação do PowerPoint</vt:lpstr>
      <vt:lpstr>Apresentação do PowerPoint</vt:lpstr>
      <vt:lpstr>2.9. Controlo de Impedância</vt:lpstr>
      <vt:lpstr>Apresentação do PowerPoint</vt:lpstr>
      <vt:lpstr>3. Design de Trajetória – Movimento numa linha reta evitando um espaço nulo</vt:lpstr>
      <vt:lpstr>Apresentação do PowerPoint</vt:lpstr>
      <vt:lpstr>4. Research: Comanipulação Assistida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 Pereira</dc:creator>
  <cp:lastModifiedBy>Gabriel Pereira</cp:lastModifiedBy>
  <cp:revision>1</cp:revision>
  <dcterms:created xsi:type="dcterms:W3CDTF">2026-01-07T00:35:58Z</dcterms:created>
  <dcterms:modified xsi:type="dcterms:W3CDTF">2026-01-07T03:05:10Z</dcterms:modified>
</cp:coreProperties>
</file>